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Do Hyeon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DoHyeon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f984cde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f984cde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ef984cde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ef984cde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ef984cde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ef984cde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ef984cd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ef984cd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f984cde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ef984cde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ef984cde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ef984cde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f984cd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f984cd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ef984cde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ef984cde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f984cde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ef984cde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f984cde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ef984cde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f984cde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ef984cde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ef984cd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ef984cd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ef984cd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ef984cd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ef984cde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ef984cde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ef984cde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ef984cde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ef984cde3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ef984cde3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ef984cde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ef984cde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ef984cde3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ef984cde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ef984cde3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ef984cde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ef984cde3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ef984cde3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f984cde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ef984cde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ef984cde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ef984cde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f984cde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ef984cde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ef984cde3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ef984cde3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ef984cde3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ef984cde3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ef984cde3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ef984cde3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ef984cde3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ef984cde3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REqgz5BtDdyxFkCm39Tjba1JY6OijtjM/view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Impact"/>
                <a:ea typeface="Impact"/>
                <a:cs typeface="Impact"/>
                <a:sym typeface="Impact"/>
              </a:rPr>
              <a:t>M</a:t>
            </a:r>
            <a:r>
              <a:rPr b="1" lang="ko">
                <a:latin typeface="Impact"/>
                <a:ea typeface="Impact"/>
                <a:cs typeface="Impact"/>
                <a:sym typeface="Impact"/>
              </a:rPr>
              <a:t>otion of particles </a:t>
            </a:r>
            <a:endParaRPr b="1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Impact"/>
                <a:ea typeface="Impact"/>
                <a:cs typeface="Impact"/>
                <a:sym typeface="Impact"/>
              </a:rPr>
              <a:t>on a friction surface</a:t>
            </a:r>
            <a:endParaRPr b="1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Newton’s apple Team 13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202611251 Taehee Hwang</a:t>
            </a:r>
            <a:endParaRPr sz="2000">
              <a:solidFill>
                <a:srgbClr val="434343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202611116 Jimin Son</a:t>
            </a:r>
            <a:endParaRPr sz="2000">
              <a:solidFill>
                <a:srgbClr val="434343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202611180</a:t>
            </a:r>
            <a:r>
              <a:rPr lang="ko" sz="20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 Heejin Lee</a:t>
            </a:r>
            <a:endParaRPr sz="2000">
              <a:solidFill>
                <a:srgbClr val="434343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342175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Contents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Do Hyeon"/>
              <a:ea typeface="Do Hyeon"/>
              <a:cs typeface="Do Hyeon"/>
              <a:sym typeface="Do Hyeon"/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o Hyeon"/>
              <a:buChar char="●"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Introduction &amp; Contextual Background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o Hyeon"/>
              <a:buChar char="●"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Experimental process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o Hyeon"/>
              <a:buChar char="●"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Experimental result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o Hyeon"/>
              <a:buChar char="●"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Conclusion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1787550"/>
            <a:ext cx="8520600" cy="15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000">
                <a:latin typeface="Impact"/>
                <a:ea typeface="Impact"/>
                <a:cs typeface="Impact"/>
                <a:sym typeface="Impact"/>
              </a:rPr>
              <a:t>Introduction &amp;</a:t>
            </a:r>
            <a:endParaRPr sz="4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4000">
                <a:latin typeface="Impact"/>
                <a:ea typeface="Impact"/>
                <a:cs typeface="Impact"/>
                <a:sym typeface="Impact"/>
              </a:rPr>
              <a:t> Contextual Background</a:t>
            </a:r>
            <a:endParaRPr sz="4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065950"/>
            <a:ext cx="8520600" cy="38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The motion of an object sliding on a curved surface is a classical mechanics problem involving gravity, friction, and surface geometry. This study is based on </a:t>
            </a:r>
            <a:r>
              <a:rPr i="1" lang="ko" sz="15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Motion of a Block Slipping on an Arbitrary Surface with Friction</a:t>
            </a:r>
            <a:r>
              <a:rPr lang="ko" sz="1500">
                <a:solidFill>
                  <a:srgbClr val="434343"/>
                </a:solidFill>
                <a:latin typeface="Do Hyeon"/>
                <a:ea typeface="Do Hyeon"/>
                <a:cs typeface="Do Hyeon"/>
                <a:sym typeface="Do Hyeon"/>
              </a:rPr>
              <a:t> (Gonzalez-Cataldo et al., 2017)</a:t>
            </a: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, which presents a general framework for predicting when an object loses contact with a curved surface.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The model relates the particle's motion to the local curvature of the surface and introduces a horizon function to determine the departure point.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 this project, the theory was applied to a hemispherical acrylic surface and compared with experimental measurements.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342175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Introduction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191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0700" y="1407700"/>
            <a:ext cx="1257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7400" y="1793450"/>
            <a:ext cx="31146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6">
            <a:alphaModFix/>
          </a:blip>
          <a:srcRect b="2760" l="0" r="47723" t="-2760"/>
          <a:stretch/>
        </p:blipFill>
        <p:spPr>
          <a:xfrm>
            <a:off x="5437400" y="2513225"/>
            <a:ext cx="22547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42175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Kinematics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 b="0" l="0" r="27007" t="0"/>
          <a:stretch/>
        </p:blipFill>
        <p:spPr>
          <a:xfrm>
            <a:off x="311700" y="1752625"/>
            <a:ext cx="4260300" cy="177583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414300" y="1017725"/>
            <a:ext cx="45285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Velocity is always directed along the tangent vector.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The first term represents the tangential acceleration (change in speed).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The second term represents the normal acceleration (change in direction).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42175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Kinematics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00" y="1908338"/>
            <a:ext cx="4092270" cy="8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455200"/>
            <a:ext cx="4092275" cy="684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 rotWithShape="1">
          <a:blip r:embed="rId5">
            <a:alphaModFix/>
          </a:blip>
          <a:srcRect b="0" l="0" r="3335" t="0"/>
          <a:stretch/>
        </p:blipFill>
        <p:spPr>
          <a:xfrm>
            <a:off x="4904125" y="2522175"/>
            <a:ext cx="4015849" cy="13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163000" y="1479738"/>
            <a:ext cx="3668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&lt;the tangential equation of motion&gt; </a:t>
            </a:r>
            <a:endParaRPr sz="15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2895963"/>
            <a:ext cx="430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&lt;the normal-direction equation of motion</a:t>
            </a: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&gt; </a:t>
            </a:r>
            <a:endParaRPr sz="1500"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735100" y="1439825"/>
            <a:ext cx="43539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&lt;t</a:t>
            </a: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he most general equation representing the velocity of a particle moving on a curved surface</a:t>
            </a: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&gt;</a:t>
            </a:r>
            <a:endParaRPr sz="15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111650" y="2311025"/>
            <a:ext cx="690000" cy="62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43400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Dynamics in the Frenet-Serret frame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22738" t="0"/>
          <a:stretch/>
        </p:blipFill>
        <p:spPr>
          <a:xfrm>
            <a:off x="311700" y="1736275"/>
            <a:ext cx="3645175" cy="112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 rotWithShape="1">
          <a:blip r:embed="rId4">
            <a:alphaModFix/>
          </a:blip>
          <a:srcRect b="0" l="0" r="52153" t="0"/>
          <a:stretch/>
        </p:blipFill>
        <p:spPr>
          <a:xfrm>
            <a:off x="449325" y="3561900"/>
            <a:ext cx="2758483" cy="8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4321975" y="911250"/>
            <a:ext cx="44523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• By introducing the tangent angle, the particle velocity can be expressed as a function of the local geometry of the curve.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• Eq.01 describes how the velocity evolves along the surface.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• Eq.02 defines the horizon function , which determines the condition for losing contact with the surface.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• These equations simplify the analysis of motion on curved surfaces.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22700" y="1320180"/>
            <a:ext cx="1071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Eq.01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18600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Tangent angle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49325" y="3275780"/>
            <a:ext cx="1071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Eq.02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-12710" l="-6050" r="6050" t="12710"/>
          <a:stretch/>
        </p:blipFill>
        <p:spPr>
          <a:xfrm>
            <a:off x="597800" y="1499275"/>
            <a:ext cx="3156975" cy="308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375" y="1388900"/>
            <a:ext cx="4725575" cy="3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 rotWithShape="1">
          <a:blip r:embed="rId5">
            <a:alphaModFix/>
          </a:blip>
          <a:srcRect b="0" l="6747" r="1712" t="0"/>
          <a:stretch/>
        </p:blipFill>
        <p:spPr>
          <a:xfrm>
            <a:off x="5431950" y="2081550"/>
            <a:ext cx="2133975" cy="7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9325" y="3809825"/>
            <a:ext cx="2659300" cy="5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/>
          <p:nvPr/>
        </p:nvSpPr>
        <p:spPr>
          <a:xfrm>
            <a:off x="6333400" y="2963075"/>
            <a:ext cx="350100" cy="4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318600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Departure from the circle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0" r="63116" t="0"/>
          <a:stretch/>
        </p:blipFill>
        <p:spPr>
          <a:xfrm>
            <a:off x="532650" y="1863598"/>
            <a:ext cx="2679700" cy="10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 rotWithShape="1">
          <a:blip r:embed="rId4">
            <a:alphaModFix/>
          </a:blip>
          <a:srcRect b="0" l="0" r="38819" t="0"/>
          <a:stretch/>
        </p:blipFill>
        <p:spPr>
          <a:xfrm>
            <a:off x="473075" y="3925563"/>
            <a:ext cx="40666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5">
            <a:alphaModFix/>
          </a:blip>
          <a:srcRect b="0" l="0" r="50362" t="0"/>
          <a:stretch/>
        </p:blipFill>
        <p:spPr>
          <a:xfrm>
            <a:off x="5304700" y="2308700"/>
            <a:ext cx="3579575" cy="9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66625" y="1291788"/>
            <a:ext cx="4401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&lt;Condition for Leaving the Surface&gt;</a:t>
            </a:r>
            <a:r>
              <a:rPr lang="ko" sz="1800">
                <a:solidFill>
                  <a:schemeClr val="dk2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endParaRPr sz="18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716600" y="3317488"/>
            <a:ext cx="357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&lt;Special Case&gt; </a:t>
            </a:r>
            <a:endParaRPr sz="18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9625" y="3339525"/>
            <a:ext cx="685250" cy="4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4229400" y="2657275"/>
            <a:ext cx="685200" cy="47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318600"/>
            <a:ext cx="8520600" cy="8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Departure from the circle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4000">
                <a:latin typeface="Impact"/>
                <a:ea typeface="Impact"/>
                <a:cs typeface="Impact"/>
                <a:sym typeface="Impact"/>
              </a:rPr>
              <a:t>Experimental process</a:t>
            </a:r>
            <a:endParaRPr sz="4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Material lists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2431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 Hyeon"/>
              <a:buChar char="●"/>
            </a:pPr>
            <a:r>
              <a:rPr lang="ko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Rectangular parallelepiped blocks Transparent hemisphere (21 cm in diameter) </a:t>
            </a:r>
            <a:endParaRPr sz="20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 Hyeon"/>
              <a:buChar char="●"/>
            </a:pPr>
            <a:r>
              <a:rPr lang="ko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Digital camera </a:t>
            </a:r>
            <a:endParaRPr sz="20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 Hyeon"/>
              <a:buChar char="●"/>
            </a:pPr>
            <a:r>
              <a:rPr lang="ko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Inclined plane (constructed from an L-shaped plastic folder)</a:t>
            </a:r>
            <a:endParaRPr sz="20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 Hyeon"/>
              <a:buChar char="●"/>
            </a:pPr>
            <a:r>
              <a:rPr lang="ko" sz="20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Measuring tape</a:t>
            </a:r>
            <a:endParaRPr sz="2000"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Experimental procedure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1. The initial drop height of the object is measured.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2. The inclined plane is secured to the apex of the transparent hemisphere.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3. A camera is positioned perpendicularly to the ground to record the experiment.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4. The block is released from the inclined plane to slide downward.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5. The initial velocity at the apex of the hemisphere is calculated using the law of conservation of mechanical energy.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6. The detachment angle, at which the block separates from the surface of the hemisphere, is measured through video analysis.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311700" y="1152475"/>
            <a:ext cx="888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7. The velocity at the exact moment of detachment is determined using the position and time coordinates of the block at an arbitrary point after separation.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8. The friction coefficient of the acrylic hemisphere is calculated by substituting the obtained values into the governing equations from previous literature.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9. The experimental error is determined by comparing the measured friction coefficient of the acrylic hemisphere with its theoretical value.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10. The potential sources of experimental error are analyzed and discussed</a:t>
            </a:r>
            <a:endParaRPr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Experimental procedure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4000">
                <a:latin typeface="Impact"/>
                <a:ea typeface="Impact"/>
                <a:cs typeface="Impact"/>
                <a:sym typeface="Impact"/>
              </a:rPr>
              <a:t>Experimental result</a:t>
            </a:r>
            <a:endParaRPr b="1" sz="4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210925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Our Experiment Video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7" name="Google Shape;167;p28" title="KakaoTalk_20260614_0154523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450" y="1144850"/>
            <a:ext cx="5161126" cy="36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4874300" y="980125"/>
            <a:ext cx="4014000" cy="4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Measured Angle&gt;</a:t>
            </a:r>
            <a:endParaRPr b="1"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φ = 31.76° = 0.5543 rad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Height at Point A&gt;</a:t>
            </a:r>
            <a:endParaRPr b="1"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x(A) = Rcosφ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0.101 × cos(31.76°) = 0.08588 m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Horizontal Distance&gt;</a:t>
            </a:r>
            <a:endParaRPr b="1"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y(A) = Rsinφ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0.101 × sin(31.76°) = 0.05316 m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Measured Time&gt;</a:t>
            </a:r>
            <a:endParaRPr b="1"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t(A) = 0.42 s</a:t>
            </a:r>
            <a:endParaRPr sz="1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25" y="1082999"/>
            <a:ext cx="4346900" cy="29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/>
        </p:nvSpPr>
        <p:spPr>
          <a:xfrm>
            <a:off x="360025" y="4121975"/>
            <a:ext cx="3273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latin typeface="Do Hyeon"/>
                <a:ea typeface="Do Hyeon"/>
                <a:cs typeface="Do Hyeon"/>
                <a:sym typeface="Do Hyeon"/>
              </a:rPr>
              <a:t>figure 01</a:t>
            </a:r>
            <a:r>
              <a:rPr lang="ko" sz="1500">
                <a:solidFill>
                  <a:schemeClr val="dk2"/>
                </a:solidFill>
                <a:latin typeface="Do Hyeon"/>
                <a:ea typeface="Do Hyeon"/>
                <a:cs typeface="Do Hyeon"/>
                <a:sym typeface="Do Hyeon"/>
              </a:rPr>
              <a:t>: Point A</a:t>
            </a:r>
            <a:endParaRPr sz="15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210925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500">
                <a:latin typeface="Impact"/>
                <a:ea typeface="Impact"/>
                <a:cs typeface="Impact"/>
                <a:sym typeface="Impact"/>
              </a:rPr>
              <a:t>Determining the Departure Point of the Block</a:t>
            </a:r>
            <a:endParaRPr b="1"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375" y="1111825"/>
            <a:ext cx="4471426" cy="34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210925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200">
                <a:latin typeface="Impact"/>
                <a:ea typeface="Impact"/>
                <a:cs typeface="Impact"/>
                <a:sym typeface="Impact"/>
              </a:rPr>
              <a:t>Calculating the Velocity at the Departure point</a:t>
            </a:r>
            <a:endParaRPr sz="32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2192375" y="4591850"/>
            <a:ext cx="3273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latin typeface="Do Hyeon"/>
                <a:ea typeface="Do Hyeon"/>
                <a:cs typeface="Do Hyeon"/>
                <a:sym typeface="Do Hyeon"/>
              </a:rPr>
              <a:t>figure 02: Point B</a:t>
            </a:r>
            <a:endParaRPr sz="15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424825" y="1151775"/>
            <a:ext cx="3731700" cy="3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Time Difference&gt;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Δt = 0.47 − 0.42 = 0.05 s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Horizontal Displacement&gt;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Δx = 0.08722 − 0.05316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0.03406 m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Vertical Displacement&gt;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Δy = 0.08588 − 0.04810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0.03778 m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296175" y="1118500"/>
            <a:ext cx="47244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Horizontal Velocity&gt;</a:t>
            </a:r>
            <a:endParaRPr b="1"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vx = Δx/Δt = 0.03406/0.05 = 0.6812 m/s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Vertical Velocity&gt;</a:t>
            </a:r>
            <a:endParaRPr b="1"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Δy = vyΔt + ½gΔt²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0.03778 = vy(0.05) + ½(9.8)(0.05)²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vy = 0.5106 m/s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Speed at Point A&gt;</a:t>
            </a:r>
            <a:endParaRPr b="1"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vA = √(vx² + vy²) = √[(0.6812)² + (0.5106)²]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0.8513 m/s</a:t>
            </a:r>
            <a:endParaRPr sz="18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217600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200">
                <a:latin typeface="Impact"/>
                <a:ea typeface="Impact"/>
                <a:cs typeface="Impact"/>
                <a:sym typeface="Impact"/>
              </a:rPr>
              <a:t>Calculating the Velocity at the Departure point</a:t>
            </a:r>
            <a:endParaRPr sz="32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221125" y="1106400"/>
            <a:ext cx="2671200" cy="30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Given&gt;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Mass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m = 0.0173 kg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Initial Height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h0 = 0.288 m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Hemisphere Height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htop = 0.101 m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2892325" y="1081950"/>
            <a:ext cx="3059700" cy="28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Initial Potential Energy&gt;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PEinitial </a:t>
            </a: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mgh</a:t>
            </a:r>
            <a:b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(0.0173)(9.8)(0.288)</a:t>
            </a:r>
            <a:b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0.04883 J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Potential Energy at Top&gt;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P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top</a:t>
            </a:r>
            <a:b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(0.0173)(9.8)(0.101)</a:t>
            </a:r>
            <a:b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0.01712 J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217600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700">
                <a:latin typeface="Impact"/>
                <a:ea typeface="Impact"/>
                <a:cs typeface="Impact"/>
                <a:sym typeface="Impact"/>
              </a:rPr>
              <a:t>Calculating the initial Velocity Using Energy Conservation</a:t>
            </a:r>
            <a:endParaRPr sz="27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5891950" y="1081950"/>
            <a:ext cx="3092100" cy="31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Kinetic Energy&gt;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KE</a:t>
            </a:r>
            <a:b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= 0.04883 − 0.01712 = 0.03170 J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Initial Velocity</a:t>
            </a:r>
            <a:b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KE = ½mv²</a:t>
            </a:r>
            <a:b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v0 = √(2KE/m) = 1.914 m/s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5922800" y="1215650"/>
            <a:ext cx="2990100" cy="368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&lt;Known Values&gt;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v(φ) = 0.8513 m/s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v0 = 1.914 m/s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φ = 0.5543 rad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R = 0.101 m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g = 9.8 m/s²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>
                <a:solidFill>
                  <a:srgbClr val="FF0000"/>
                </a:solidFill>
                <a:latin typeface="Do Hyeon"/>
                <a:ea typeface="Do Hyeon"/>
                <a:cs typeface="Do Hyeon"/>
                <a:sym typeface="Do Hyeon"/>
              </a:rPr>
              <a:t>Want to know : μ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00" y="1928375"/>
            <a:ext cx="53149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259525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Applying the AJP Analytical Model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360025" y="4121975"/>
            <a:ext cx="3273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2"/>
                </a:solidFill>
                <a:latin typeface="Do Hyeon"/>
                <a:ea typeface="Do Hyeon"/>
                <a:cs typeface="Do Hyeon"/>
                <a:sym typeface="Do Hyeon"/>
              </a:rPr>
              <a:t>figure 03: Equation from the Paper</a:t>
            </a:r>
            <a:endParaRPr sz="1500">
              <a:solidFill>
                <a:schemeClr val="dk2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1700" y="1152475"/>
            <a:ext cx="799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&lt;Numerical Solution&gt;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Substituting all known values into the model : μ = -1.17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&lt;Comparison&gt;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Expected Acrylic Friction : μ ≈ 0.83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Experimental Result : μ = -1.17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332750"/>
            <a:ext cx="85206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Solving for the Friction Coefficient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96450" y="2208125"/>
            <a:ext cx="83511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4000">
                <a:latin typeface="Impact"/>
                <a:ea typeface="Impact"/>
                <a:cs typeface="Impact"/>
                <a:sym typeface="Impact"/>
              </a:rPr>
              <a:t>Conclusion</a:t>
            </a:r>
            <a:endParaRPr b="1" sz="4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00">
                <a:latin typeface="Impact"/>
                <a:ea typeface="Impact"/>
                <a:cs typeface="Impact"/>
                <a:sym typeface="Impact"/>
              </a:rPr>
              <a:t>Why Did We Obtain a Negative Friction Coefficient ? 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247100"/>
            <a:ext cx="8520600" cy="37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Source 1 : Overestimated Initial Velocity</a:t>
            </a:r>
            <a:b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Assumption : No energy loss before reaching the hemisphere</a:t>
            </a:r>
            <a:b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Reality : Friction existed on the guiding track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0000"/>
                </a:solidFill>
                <a:latin typeface="Do Hyeon"/>
                <a:ea typeface="Do Hyeon"/>
                <a:cs typeface="Do Hyeon"/>
                <a:sym typeface="Do Hyeon"/>
              </a:rPr>
              <a:t>➡︎</a:t>
            </a:r>
            <a:r>
              <a:rPr b="1" lang="ko">
                <a:solidFill>
                  <a:srgbClr val="FF0000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b="1" lang="ko">
                <a:solidFill>
                  <a:srgbClr val="FF0000"/>
                </a:solidFill>
                <a:latin typeface="Do Hyeon"/>
                <a:ea typeface="Do Hyeon"/>
                <a:cs typeface="Do Hyeon"/>
                <a:sym typeface="Do Hyeon"/>
              </a:rPr>
              <a:t>v0 too large : 1.914 m/s</a:t>
            </a:r>
            <a:endParaRPr b="1">
              <a:solidFill>
                <a:srgbClr val="FF0000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 Hyeon"/>
              <a:buChar char="●"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Source 2 : Underestimated Departure Velocity</a:t>
            </a:r>
            <a:b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</a:b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Sources of error :</a:t>
            </a: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 </a:t>
            </a: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Air resistance, Pixel scaling, Motion blur, Perspective distortion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FF0000"/>
                </a:solidFill>
                <a:latin typeface="Do Hyeon"/>
                <a:ea typeface="Do Hyeon"/>
                <a:cs typeface="Do Hyeon"/>
                <a:sym typeface="Do Hyeon"/>
              </a:rPr>
              <a:t>➡︎ vA too small : 0.851 m/s</a:t>
            </a:r>
            <a:endParaRPr b="1">
              <a:solidFill>
                <a:srgbClr val="FF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1500700"/>
            <a:ext cx="8520600" cy="29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&lt;Result&gt;</a:t>
            </a:r>
            <a:endParaRPr b="1"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Overestimated v0 + Underestimated vA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5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Negative friction coefficient: μ = -1.17</a:t>
            </a:r>
            <a:endParaRPr sz="25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28" name="Google Shape;228;p37"/>
          <p:cNvSpPr txBox="1"/>
          <p:nvPr>
            <p:ph type="title"/>
          </p:nvPr>
        </p:nvSpPr>
        <p:spPr>
          <a:xfrm>
            <a:off x="311700" y="445025"/>
            <a:ext cx="85206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00">
                <a:latin typeface="Impact"/>
                <a:ea typeface="Impact"/>
                <a:cs typeface="Impact"/>
                <a:sym typeface="Impact"/>
              </a:rPr>
              <a:t>Why Did We Obtain a Negative Friction Coefficient ? </a:t>
            </a:r>
            <a:endParaRPr sz="3000"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4319100" y="2839000"/>
            <a:ext cx="505800" cy="69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Conclusions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&lt;Achievements&gt;</a:t>
            </a:r>
            <a:endParaRPr b="1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✓ Identified the departure point experimentally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✓ Calculated departure velocity using projectile motion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✓ Calculated initial velocity using energy conservation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✓ Applied the AJP analytical model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✓ Investigated the discrepancy between theory and experiment</a:t>
            </a:r>
            <a:endParaRPr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22140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&lt;Final Takeaway&gt;</a:t>
            </a:r>
            <a:endParaRPr b="1"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400">
                <a:solidFill>
                  <a:schemeClr val="dk1"/>
                </a:solidFill>
                <a:latin typeface="Do Hyeon"/>
                <a:ea typeface="Do Hyeon"/>
                <a:cs typeface="Do Hyeon"/>
                <a:sym typeface="Do Hyeon"/>
              </a:rPr>
              <a:t>The most important outcome was not the numerical value of μ but, understanding how the intermediate mathematical operations connect theoretical equations to real physical motion.</a:t>
            </a:r>
            <a:endParaRPr sz="2400">
              <a:solidFill>
                <a:schemeClr val="dk1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500">
                <a:latin typeface="Impact"/>
                <a:ea typeface="Impact"/>
                <a:cs typeface="Impact"/>
                <a:sym typeface="Impact"/>
              </a:rPr>
              <a:t>Conclusions</a:t>
            </a:r>
            <a:endParaRPr sz="35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96450" y="2208125"/>
            <a:ext cx="83511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4000">
                <a:latin typeface="Impact"/>
                <a:ea typeface="Impact"/>
                <a:cs typeface="Impact"/>
                <a:sym typeface="Impact"/>
              </a:rPr>
              <a:t>Thank you.</a:t>
            </a:r>
            <a:endParaRPr b="1" sz="40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