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f984cd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f984cd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f984cde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ef984cde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ef984cde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ef984cd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f984cd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ef984cd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f984cde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ef984cde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ef984cde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ef984cde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f984cd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f984cd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ef984cde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ef984cde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f984cde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ef984cde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f984cde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ef984cde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f984cde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ef984cde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ef984cd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ef984cd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ef984cd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ef984cd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ef984cde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ef984cde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ef984cde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ef984cde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ef984cd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ef984cd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ef984cde3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ef984cde3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ef984cde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ef984cd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f984cde3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ef984cde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ef984cde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ef984cde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ef984cde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ef984cde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ef984cde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ef984cde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f984cde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ef984cde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ef984cde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ef984cde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ef984cde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ef984cde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ef984cde3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ef984cde3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ef984cde3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ef984cde3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ef984cde3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ef984cde3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ef984cde3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ef984cde3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ef984cde3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ef984cde3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REqgz5BtDdyxFkCm39Tjba1JY6OijtjM/view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M</a:t>
            </a:r>
            <a:r>
              <a:rPr b="1" lang="ko"/>
              <a:t>otion of particles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on a friction surface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Newton’s apple team 13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202611251 Taehee Hwang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202611116 Jimin Son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202611180</a:t>
            </a:r>
            <a:r>
              <a:rPr lang="ko">
                <a:solidFill>
                  <a:schemeClr val="dk1"/>
                </a:solidFill>
              </a:rPr>
              <a:t> Heejin Lee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Contents</a:t>
            </a:r>
            <a:endParaRPr b="1" sz="32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1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ko" sz="3200">
                <a:solidFill>
                  <a:schemeClr val="dk1"/>
                </a:solidFill>
              </a:rPr>
              <a:t>Introduction &amp; Contextual Background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ko" sz="3200">
                <a:solidFill>
                  <a:schemeClr val="dk1"/>
                </a:solidFill>
              </a:rPr>
              <a:t>Experimental process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ko" sz="3200">
                <a:solidFill>
                  <a:schemeClr val="dk1"/>
                </a:solidFill>
              </a:rPr>
              <a:t>Experimental result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ko" sz="3200">
                <a:solidFill>
                  <a:schemeClr val="dk1"/>
                </a:solidFill>
              </a:rPr>
              <a:t>Conclusion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000"/>
              <a:t>Introduction &amp; Contextual Background</a:t>
            </a:r>
            <a:endParaRPr b="1"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745"/>
              <a:buFont typeface="Arial"/>
              <a:buNone/>
            </a:pPr>
            <a:r>
              <a:rPr b="1" lang="ko" sz="3220"/>
              <a:t>Introduction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400">
                <a:solidFill>
                  <a:schemeClr val="dk1"/>
                </a:solidFill>
              </a:rPr>
              <a:t>The motion of an object sliding on a curved surface is a classical mechanics problem involving gravity, friction, and surface geometry. This study is based on </a:t>
            </a:r>
            <a:r>
              <a:rPr i="1" lang="ko" sz="2400">
                <a:solidFill>
                  <a:schemeClr val="dk1"/>
                </a:solidFill>
              </a:rPr>
              <a:t>Motion of a Block Slipping on an Arbitrary Surface with Friction</a:t>
            </a:r>
            <a:r>
              <a:rPr lang="ko" sz="2400">
                <a:solidFill>
                  <a:schemeClr val="dk1"/>
                </a:solidFill>
              </a:rPr>
              <a:t> (Gonzalez-Cataldo et al., 2017), which presents a general framework for predicting when an object loses contact with a curved surface. The model relates the particle's motion to the local curvature of the surface and introduces a horizon function to determine the departure point. In this project, the theory was applied to a hemispherical acrylic surface and compared with experimental measurements.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Kinematic</a:t>
            </a:r>
            <a:endParaRPr b="1" sz="322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91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0700" y="1407700"/>
            <a:ext cx="1257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400" y="1793450"/>
            <a:ext cx="31146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b="2760" l="0" r="47723" t="-2760"/>
          <a:stretch/>
        </p:blipFill>
        <p:spPr>
          <a:xfrm>
            <a:off x="5437400" y="2513225"/>
            <a:ext cx="22547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3200"/>
              <a:t>Kinematic</a:t>
            </a:r>
            <a:endParaRPr b="1" sz="3200"/>
          </a:p>
        </p:txBody>
      </p:sp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27007" t="0"/>
          <a:stretch/>
        </p:blipFill>
        <p:spPr>
          <a:xfrm>
            <a:off x="366625" y="1446550"/>
            <a:ext cx="3890050" cy="25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4615500" y="1017725"/>
            <a:ext cx="45285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52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400">
                <a:solidFill>
                  <a:schemeClr val="dk1"/>
                </a:solidFill>
              </a:rPr>
              <a:t> </a:t>
            </a:r>
            <a:r>
              <a:rPr lang="ko" sz="2550">
                <a:solidFill>
                  <a:schemeClr val="dk1"/>
                </a:solidFill>
              </a:rPr>
              <a:t>Velocity is always directed along the tangent vector.</a:t>
            </a:r>
            <a:endParaRPr sz="25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-34194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550">
                <a:solidFill>
                  <a:schemeClr val="dk1"/>
                </a:solidFill>
              </a:rPr>
              <a:t>The first term represents the tangential acceleration (change in speed).</a:t>
            </a:r>
            <a:endParaRPr sz="25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-34194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2550">
                <a:solidFill>
                  <a:schemeClr val="dk1"/>
                </a:solidFill>
              </a:rPr>
              <a:t>The second term represents the normal acceleration (change in direction).</a:t>
            </a:r>
            <a:endParaRPr sz="25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D</a:t>
            </a:r>
            <a:r>
              <a:rPr b="1" lang="ko" sz="3220"/>
              <a:t>ynamics in the Frenet-Serret frame</a:t>
            </a:r>
            <a:endParaRPr b="1" sz="322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00" y="1682113"/>
            <a:ext cx="4092270" cy="8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28975"/>
            <a:ext cx="4092275" cy="68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537" y="2224513"/>
            <a:ext cx="4523575" cy="15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0" y="1353325"/>
            <a:ext cx="3668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&lt;the tangential equation of motion&gt;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0" y="2669738"/>
            <a:ext cx="430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&lt;the normal-direction equation of motion</a:t>
            </a:r>
            <a:r>
              <a:rPr lang="ko">
                <a:solidFill>
                  <a:schemeClr val="dk1"/>
                </a:solidFill>
              </a:rPr>
              <a:t>&gt; 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5175026" y="1353325"/>
            <a:ext cx="38946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&lt;t</a:t>
            </a:r>
            <a:r>
              <a:rPr lang="ko">
                <a:solidFill>
                  <a:schemeClr val="dk1"/>
                </a:solidFill>
              </a:rPr>
              <a:t>he most general equation representing the velocity of a particle moving on a curved surface</a:t>
            </a:r>
            <a:r>
              <a:rPr lang="ko">
                <a:solidFill>
                  <a:schemeClr val="dk1"/>
                </a:solidFill>
              </a:rPr>
              <a:t>&gt;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4371450" y="2403800"/>
            <a:ext cx="406800" cy="40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Tangent angle</a:t>
            </a:r>
            <a:endParaRPr b="1" sz="3220"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9869" t="0"/>
          <a:stretch/>
        </p:blipFill>
        <p:spPr>
          <a:xfrm>
            <a:off x="368425" y="1374300"/>
            <a:ext cx="3716675" cy="119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0" l="0" r="17116" t="0"/>
          <a:stretch/>
        </p:blipFill>
        <p:spPr>
          <a:xfrm>
            <a:off x="368425" y="3041025"/>
            <a:ext cx="6170175" cy="10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4435075" y="1017725"/>
            <a:ext cx="51012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•</a:t>
            </a:r>
            <a:r>
              <a:rPr lang="ko" sz="1800">
                <a:solidFill>
                  <a:schemeClr val="dk1"/>
                </a:solidFill>
              </a:rPr>
              <a:t> By introducing the tangent angle, the particle velocity can be expressed as a function of the local geometry of the curve.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</a:rPr>
              <a:t>• Eq.1 describes how the velocity evolves along the surface.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</a:rPr>
              <a:t>• Eq.2 defines the horizon function , which determines the condition for losing contact with the surface.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</a:rPr>
              <a:t>• These equations simplify the analysis of motion on curved surfaces.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457200" y="1047513"/>
            <a:ext cx="1071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Eq.1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57200" y="2744025"/>
            <a:ext cx="1071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Eq.2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Departure from the circle</a:t>
            </a:r>
            <a:endParaRPr b="1" sz="3220"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-12710" l="-6050" r="6050" t="12710"/>
          <a:stretch/>
        </p:blipFill>
        <p:spPr>
          <a:xfrm>
            <a:off x="597800" y="1499275"/>
            <a:ext cx="3156975" cy="30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375" y="1388900"/>
            <a:ext cx="4725575" cy="3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 rotWithShape="1">
          <a:blip r:embed="rId5">
            <a:alphaModFix/>
          </a:blip>
          <a:srcRect b="0" l="6743" r="0" t="0"/>
          <a:stretch/>
        </p:blipFill>
        <p:spPr>
          <a:xfrm>
            <a:off x="5431950" y="2081550"/>
            <a:ext cx="2174075" cy="7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9650" y="3628125"/>
            <a:ext cx="3817602" cy="7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>
            <a:off x="6333400" y="2963075"/>
            <a:ext cx="350100" cy="4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745"/>
              <a:buFont typeface="Arial"/>
              <a:buNone/>
            </a:pPr>
            <a:r>
              <a:rPr b="1" lang="ko" sz="3220"/>
              <a:t>Departure from the circle</a:t>
            </a:r>
            <a:endParaRPr b="1"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63116" t="0"/>
          <a:stretch/>
        </p:blipFill>
        <p:spPr>
          <a:xfrm>
            <a:off x="523600" y="1605300"/>
            <a:ext cx="3094900" cy="11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 b="0" l="0" r="38819" t="0"/>
          <a:stretch/>
        </p:blipFill>
        <p:spPr>
          <a:xfrm>
            <a:off x="479750" y="3740850"/>
            <a:ext cx="40666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5">
            <a:alphaModFix/>
          </a:blip>
          <a:srcRect b="0" l="0" r="50362" t="0"/>
          <a:stretch/>
        </p:blipFill>
        <p:spPr>
          <a:xfrm>
            <a:off x="5304700" y="2308700"/>
            <a:ext cx="3579575" cy="9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373300" y="1107075"/>
            <a:ext cx="4401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&lt;Condition for Leaving the Surface&gt;</a:t>
            </a:r>
            <a:r>
              <a:rPr lang="ko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723275" y="3132775"/>
            <a:ext cx="357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ko" sz="1800">
                <a:solidFill>
                  <a:schemeClr val="dk1"/>
                </a:solidFill>
              </a:rPr>
              <a:t>&lt;Special Case&gt;</a:t>
            </a:r>
            <a:r>
              <a:rPr lang="ko" sz="13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7475" y="3154800"/>
            <a:ext cx="685250" cy="4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4229400" y="2657275"/>
            <a:ext cx="685200" cy="47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000"/>
              <a:t>Experimental process</a:t>
            </a:r>
            <a:endParaRPr b="1"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200"/>
              <a:t>Material lists</a:t>
            </a:r>
            <a:endParaRPr b="1" sz="3200"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90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ko" sz="3200">
                <a:solidFill>
                  <a:schemeClr val="dk1"/>
                </a:solidFill>
              </a:rPr>
              <a:t>Rectangular parallelepiped blocks Transparent hemisphere (21 cm in diameter) 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ko" sz="3200">
                <a:solidFill>
                  <a:schemeClr val="dk1"/>
                </a:solidFill>
              </a:rPr>
              <a:t> Digital camera 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ko" sz="3200">
                <a:solidFill>
                  <a:schemeClr val="dk1"/>
                </a:solidFill>
              </a:rPr>
              <a:t> Inclined plane (constructed from an L-shaped plastic folder)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ko" sz="3200">
                <a:solidFill>
                  <a:schemeClr val="dk1"/>
                </a:solidFill>
              </a:rPr>
              <a:t> Measuring tape 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3200">
                <a:solidFill>
                  <a:schemeClr val="dk1"/>
                </a:solidFill>
              </a:rPr>
              <a:t>	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Experimental procedure</a:t>
            </a:r>
            <a:endParaRPr b="1" sz="3920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1. The initial drop height of the object is measured.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2. The inclined plane is secured to the apex of the transparent hemisphere.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3. A camera is positioned perpendicularly to the ground to record the experiment.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400">
                <a:solidFill>
                  <a:schemeClr val="dk1"/>
                </a:solidFill>
              </a:rPr>
              <a:t>4. The block is released from the inclined plane to slide downward.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3200"/>
              <a:t>Experimental procedure</a:t>
            </a:r>
            <a:endParaRPr b="1" sz="3200"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88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5. The initial velocity at the apex of the hemisphere is calculated using the law of conservation of mechanical energy.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6. The detachment angle, at which the block separates from the surface of the hemisphere, is measured through video analysis.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7. The velocity at the exact moment of detachment is determined using the position and time coordinates of the block at an arbitrary point after separation.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3200"/>
              <a:t>Experimental procedure</a:t>
            </a:r>
            <a:endParaRPr b="1" sz="3200"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52475"/>
            <a:ext cx="869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8. The friction coefficient of the acrylic hemisphere is calculated by substituting the obtained values into the governing equations from previous literature.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9. The experimental error is determined by comparing the measured friction coefficient of the acrylic hemisphere with its theoretical value.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400">
                <a:solidFill>
                  <a:schemeClr val="dk1"/>
                </a:solidFill>
              </a:rPr>
              <a:t>10. The potential sources of experimental error are analyzed and discussed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000"/>
              <a:t>Experimental result</a:t>
            </a:r>
            <a:endParaRPr b="1"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Our Experiment Video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pic>
        <p:nvPicPr>
          <p:cNvPr id="173" name="Google Shape;173;p29" title="KakaoTalk_20260614_0154523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438" y="1144850"/>
            <a:ext cx="5161126" cy="38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0" y="445025"/>
            <a:ext cx="10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Determining the Departure Point of the Block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5033200" y="1017725"/>
            <a:ext cx="4435800" cy="4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Measured Angle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φ = 31.76° = 0.5543 rad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Height at Point 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x(A) = Rcosφ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= 0.101 × cos(31.76°) = 0.08588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Horizontal Distance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y(A) = Rsinφ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= 0.101 × sin(31.76°) = 0.05316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/>
              <a:t>Measured Time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 t(A) = 0.42 s</a:t>
            </a:r>
            <a:endParaRPr sz="1000"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25" y="1096288"/>
            <a:ext cx="4779701" cy="32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127125" y="4467975"/>
            <a:ext cx="3273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figure1:Point 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Calculating the Velocity at the Departure Point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600" y="1322525"/>
            <a:ext cx="498479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127125" y="4467975"/>
            <a:ext cx="3273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figure2:Point 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Calculating the Velocity at the Departure Point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649775"/>
            <a:ext cx="29649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ko" sz="1850"/>
              <a:t>Time Difference</a:t>
            </a:r>
            <a:endParaRPr b="1"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850"/>
              <a:t>Δt = 0.47 − 0.42 = 0.05 s</a:t>
            </a:r>
            <a:endParaRPr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850"/>
              <a:t>Horizontal Displacement</a:t>
            </a:r>
            <a:endParaRPr b="1"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850"/>
              <a:t>Δx = 0.08722 − 0.05316</a:t>
            </a:r>
            <a:endParaRPr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850"/>
              <a:t>= 0.03406 m</a:t>
            </a:r>
            <a:endParaRPr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ko" sz="1850"/>
              <a:t>Vertical Displacement</a:t>
            </a:r>
            <a:endParaRPr b="1"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 sz="1850"/>
              <a:t>Δy = 0.08588 − 0.04810</a:t>
            </a:r>
            <a:endParaRPr sz="18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ko" sz="1850"/>
              <a:t>= 0.03778 m</a:t>
            </a:r>
            <a:endParaRPr sz="2150"/>
          </a:p>
        </p:txBody>
      </p:sp>
      <p:sp>
        <p:nvSpPr>
          <p:cNvPr id="195" name="Google Shape;195;p32"/>
          <p:cNvSpPr txBox="1"/>
          <p:nvPr/>
        </p:nvSpPr>
        <p:spPr>
          <a:xfrm>
            <a:off x="4183050" y="1234825"/>
            <a:ext cx="4767900" cy="3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50">
                <a:solidFill>
                  <a:schemeClr val="dk2"/>
                </a:solidFill>
              </a:rPr>
              <a:t>Horizontal Velocity</a:t>
            </a:r>
            <a:endParaRPr b="1"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vx = Δx/Δt = 0.03406/0.05 = 0.6812 m/s</a:t>
            </a:r>
            <a:endParaRPr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50">
                <a:solidFill>
                  <a:schemeClr val="dk2"/>
                </a:solidFill>
              </a:rPr>
              <a:t>Vertical Velocity</a:t>
            </a:r>
            <a:endParaRPr b="1"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Δy = vyΔt + ½gΔt²</a:t>
            </a:r>
            <a:endParaRPr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0.03778 = vy(0.05) + ½(9.8)(0.05)²</a:t>
            </a:r>
            <a:endParaRPr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vy = 0.5106 m/s</a:t>
            </a:r>
            <a:endParaRPr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50">
                <a:solidFill>
                  <a:schemeClr val="dk2"/>
                </a:solidFill>
              </a:rPr>
              <a:t>Speed at Point A</a:t>
            </a:r>
            <a:endParaRPr b="1"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vA = √(vx² + vy²) = √[(0.6812)² + (0.5106)²]</a:t>
            </a:r>
            <a:endParaRPr sz="18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50">
                <a:solidFill>
                  <a:schemeClr val="dk2"/>
                </a:solidFill>
              </a:rPr>
              <a:t>= 0.8513 m/s</a:t>
            </a:r>
            <a:endParaRPr sz="18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Calculating the Initial Velocity Using Energy Conservation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513900" y="1493675"/>
            <a:ext cx="396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00"/>
              <a:t>Given</a:t>
            </a:r>
            <a:endParaRPr b="1" sz="22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b="1" lang="ko" sz="2000"/>
              <a:t>Mass</a:t>
            </a:r>
            <a:br>
              <a:rPr b="1" lang="ko" sz="2000"/>
            </a:br>
            <a:r>
              <a:rPr lang="ko" sz="2000"/>
              <a:t>m = 0.0173 kg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ko" sz="2000"/>
              <a:t>Initial Height</a:t>
            </a:r>
            <a:br>
              <a:rPr b="1" lang="ko" sz="2000"/>
            </a:br>
            <a:r>
              <a:rPr lang="ko" sz="2000"/>
              <a:t>h0 = 0.288 m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1" lang="ko" sz="2000"/>
              <a:t>Hemisphere Height</a:t>
            </a:r>
            <a:br>
              <a:rPr b="1" lang="ko" sz="2000"/>
            </a:br>
            <a:r>
              <a:rPr lang="ko" sz="2000"/>
              <a:t>htop = 0.101 m</a:t>
            </a:r>
            <a:endParaRPr sz="2000"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4572000" y="1493675"/>
            <a:ext cx="387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247"/>
              <a:t>Initial Potential Energy</a:t>
            </a:r>
            <a:endParaRPr b="1" sz="2247"/>
          </a:p>
          <a:p>
            <a:pPr indent="-34402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18"/>
              <a:buChar char="-"/>
            </a:pPr>
            <a:r>
              <a:rPr b="1" lang="ko" sz="2018"/>
              <a:t>PEinitial</a:t>
            </a:r>
            <a:br>
              <a:rPr b="1" lang="ko" sz="2018"/>
            </a:br>
            <a:r>
              <a:rPr lang="ko" sz="2000"/>
              <a:t>= mgh</a:t>
            </a:r>
            <a:br>
              <a:rPr lang="ko" sz="2000"/>
            </a:br>
            <a:r>
              <a:rPr lang="ko" sz="2000"/>
              <a:t>= (0.0173)(9.8)(0.288)</a:t>
            </a:r>
            <a:br>
              <a:rPr lang="ko" sz="2000"/>
            </a:br>
            <a:r>
              <a:rPr lang="ko" sz="2000"/>
              <a:t>= 0.04883 J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200"/>
              <a:t>Potential Energy at Top</a:t>
            </a:r>
            <a:endParaRPr b="1" sz="2200"/>
          </a:p>
          <a:p>
            <a:pPr indent="-3556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b="1" lang="ko" sz="2000"/>
              <a:t>PEtop</a:t>
            </a:r>
            <a:br>
              <a:rPr b="1" lang="ko" sz="2000"/>
            </a:br>
            <a:r>
              <a:rPr lang="ko" sz="2000"/>
              <a:t>= (0.0173)(9.8)(0.101)</a:t>
            </a:r>
            <a:br>
              <a:rPr lang="ko" sz="2000"/>
            </a:br>
            <a:r>
              <a:rPr lang="ko" sz="2000"/>
              <a:t>= 0.01712 J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ko" sz="3220"/>
              <a:t>Calculating the Initial Velocity Using Energy Conservation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620075"/>
            <a:ext cx="556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/>
              <a:t>Kinetic Energy</a:t>
            </a:r>
            <a:endParaRPr b="1" sz="23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-"/>
            </a:pPr>
            <a:r>
              <a:rPr b="1" lang="ko" sz="2100"/>
              <a:t>KE</a:t>
            </a:r>
            <a:br>
              <a:rPr b="1" lang="ko" sz="2100"/>
            </a:br>
            <a:r>
              <a:rPr lang="ko" sz="2100"/>
              <a:t>= 0.04883 − 0.01712 = 0.03170 J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ko" sz="2100"/>
              <a:t>Initial Velocity</a:t>
            </a:r>
            <a:br>
              <a:rPr b="1" lang="ko" sz="2100"/>
            </a:br>
            <a:r>
              <a:rPr lang="ko" sz="2100"/>
              <a:t>KE = ½mv²</a:t>
            </a:r>
            <a:br>
              <a:rPr lang="ko" sz="2100"/>
            </a:br>
            <a:r>
              <a:rPr lang="ko" sz="2100"/>
              <a:t>v0 = √(2KE/m) = 1.914 m/s</a:t>
            </a:r>
            <a:endParaRPr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Applying the AJP Analytical Model 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5922800" y="1215650"/>
            <a:ext cx="2990100" cy="36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/>
              <a:t>Known Values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v(φ) = 0.8513 m/s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v0 = 1.914 m/s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φ = 0.5543 rad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 = 0.101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g = 9.8 m/s²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Want to know : μ </a:t>
            </a:r>
            <a:endParaRPr b="1"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" y="1928375"/>
            <a:ext cx="53149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/>
        </p:nvSpPr>
        <p:spPr>
          <a:xfrm>
            <a:off x="127125" y="4467975"/>
            <a:ext cx="411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figure3: Equation from the Paper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Solving for the Friction Coefficient 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152475"/>
            <a:ext cx="799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/>
              <a:t>Numerical Solution</a:t>
            </a:r>
            <a:endParaRPr b="1"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ko"/>
              <a:t>Substituting all known values into the model:</a:t>
            </a:r>
            <a:br>
              <a:rPr b="1" lang="ko"/>
            </a:br>
            <a:r>
              <a:rPr lang="ko"/>
              <a:t>μ = -1.17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000"/>
              <a:t>Comparison</a:t>
            </a:r>
            <a:endParaRPr b="1"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ko"/>
              <a:t>Expected Acrylic Friction</a:t>
            </a:r>
            <a:br>
              <a:rPr b="1" lang="ko"/>
            </a:br>
            <a:r>
              <a:rPr lang="ko"/>
              <a:t>μ ≈ 0.83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ko"/>
              <a:t>Experimental Result</a:t>
            </a:r>
            <a:br>
              <a:rPr b="1" lang="ko"/>
            </a:br>
            <a:r>
              <a:rPr lang="ko"/>
              <a:t>μ = -1.17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285600" y="2233200"/>
            <a:ext cx="25728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200"/>
              <a:t>Conclusion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Why Did We Obtain a Negative Friction Coefficient? 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965725"/>
            <a:ext cx="8520600" cy="24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20"/>
              <a:t>Source 1</a:t>
            </a:r>
            <a:endParaRPr b="1" sz="242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-"/>
            </a:pPr>
            <a:r>
              <a:rPr b="1" lang="ko" sz="2100"/>
              <a:t>Overestimated Initial Velocity</a:t>
            </a:r>
            <a:br>
              <a:rPr b="1" lang="ko" sz="2100"/>
            </a:br>
            <a:r>
              <a:rPr lang="ko" sz="2100"/>
              <a:t>Assumption: No energy loss before reaching the hemisphere</a:t>
            </a:r>
            <a:br>
              <a:rPr lang="ko" sz="2100"/>
            </a:br>
            <a:r>
              <a:rPr lang="ko" sz="2100"/>
              <a:t>Reality: Friction existed on the guiding track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100"/>
              <a:t>=&gt;</a:t>
            </a:r>
            <a:r>
              <a:rPr b="1" lang="ko" sz="2100"/>
              <a:t> </a:t>
            </a:r>
            <a:r>
              <a:rPr b="1" lang="ko" sz="2100"/>
              <a:t>v0 too large : 1.914 m/s</a:t>
            </a:r>
            <a:endParaRPr b="1" sz="2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Why Did We Obtain a Negative Friction Coefficient? 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700325"/>
            <a:ext cx="85206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400"/>
              <a:t>Source 2</a:t>
            </a:r>
            <a:endParaRPr b="1"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2700"/>
              <a:t>Underestimated Departure Velocity</a:t>
            </a:r>
            <a:endParaRPr b="1" sz="2700"/>
          </a:p>
          <a:p>
            <a:pPr indent="-34861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ko" sz="2700"/>
              <a:t>Sources of error:</a:t>
            </a:r>
            <a:br>
              <a:rPr b="1" lang="ko" sz="2700"/>
            </a:br>
            <a:r>
              <a:rPr lang="ko" sz="2700"/>
              <a:t>Air resistance</a:t>
            </a:r>
            <a:br>
              <a:rPr lang="ko" sz="2700"/>
            </a:br>
            <a:r>
              <a:rPr lang="ko" sz="2700"/>
              <a:t>Pixel scaling</a:t>
            </a:r>
            <a:br>
              <a:rPr lang="ko" sz="2700"/>
            </a:br>
            <a:r>
              <a:rPr lang="ko" sz="2700"/>
              <a:t>Motion blur</a:t>
            </a:r>
            <a:br>
              <a:rPr lang="ko" sz="2700"/>
            </a:br>
            <a:r>
              <a:rPr lang="ko" sz="2700"/>
              <a:t>Perspective distortion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2700"/>
              <a:t>=&gt; vA too small : 0.851 m/s</a:t>
            </a:r>
            <a:endParaRPr b="1" sz="2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Why Did We Obtain a Negative Friction Coefficient? </a:t>
            </a:r>
            <a:endParaRPr b="1" sz="3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20"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700325"/>
            <a:ext cx="85206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400"/>
              <a:t>Result</a:t>
            </a:r>
            <a:endParaRPr b="1" sz="3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900"/>
              <a:t>Overestimated v0 + Underestimated vA</a:t>
            </a:r>
            <a:endParaRPr sz="2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900"/>
              <a:t>↓</a:t>
            </a:r>
            <a:endParaRPr sz="2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900"/>
              <a:t>Negative friction coefficient: μ = -1.17</a:t>
            </a:r>
            <a:endParaRPr sz="2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Conclusions</a:t>
            </a:r>
            <a:endParaRPr b="1" sz="3220"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/>
              <a:t>Achievements</a:t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/>
              <a:t>✓ Identified the departure point experimentally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/>
              <a:t>✓ Calculated departure velocity using projectile motion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/>
              <a:t>✓ Calculated initial velocity using energy conservation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/>
              <a:t>✓ Applied the AJP analytical model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900"/>
              <a:t>✓ Investigated the discrepancy between theory and experiment</a:t>
            </a:r>
            <a:endParaRPr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220"/>
              <a:t>Conclusions</a:t>
            </a:r>
            <a:endParaRPr b="1" sz="3220"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/>
              <a:t>Final Takeaway</a:t>
            </a:r>
            <a:endParaRPr b="1" sz="21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100"/>
              <a:t>The most important outcome was not the numerical value of μ, but understanding how the intermediate mathematical operations connect theoretical equations to real physical motion.</a:t>
            </a:r>
            <a:endParaRPr sz="2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3459000" y="2233200"/>
            <a:ext cx="2226000" cy="67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3200"/>
              <a:t>Thank you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